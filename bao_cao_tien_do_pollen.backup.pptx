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6B6B"/>
            </a:solidFill>
          </c:spPr>
          <c:cat>
            <c:strRef>
              <c:f>Sheet1!$A$2:$A$3</c:f>
              <c:strCache>
                <c:ptCount val="2"/>
                <c:pt idx="0">
                  <c:v>yolov8s (~10M)</c:v>
                </c:pt>
                <c:pt idx="1">
                  <c:v>yolo11x (~50M)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93.8</c:v>
                </c:pt>
                <c:pt idx="1">
                  <c:v>94.2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Masked CE</c:v>
                </c:pt>
              </c:strCache>
            </c:strRef>
          </c:tx>
          <c:spPr>
            <a:solidFill>
              <a:srgbClr val="2C5530"/>
            </a:solidFill>
          </c:spPr>
          <c:cat>
            <c:strRef>
              <c:f>Sheet1!$A$2:$A$3</c:f>
              <c:strCache>
                <c:ptCount val="2"/>
                <c:pt idx="0">
                  <c:v>yolov8s (~10M)</c:v>
                </c:pt>
                <c:pt idx="1">
                  <c:v>yolo11x (~50M)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92.5</c:v>
                </c:pt>
                <c:pt idx="1">
                  <c:v>95.0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6.0"/>
          <c:min val="9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D4A017"/>
                </a:solidFill>
                <a:latin typeface="Calibri"/>
              </a:rPr>
              <a:t>BÁO CÁO TIẾN ĐỘ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Phân loại Phấn hoa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Cấu trúc Phân loại học Phân cấp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D4A017"/>
                </a:solidFill>
                <a:latin typeface="Calibri"/>
              </a:rPr>
              <a:t>Multi-head YOLO Classifier với Masked Cross-Entropy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54880"/>
            <a:ext cx="10972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Báo cáo viên:    [Họ và tên]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GVHD:                [Họ và tên giảng viên hướng dẫn]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Đơn vị · Ngày:   [Khoa/Trường] · [DD/MM/YYYY]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1. BỐI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Bài toán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Cho 1 ảnh phấn hoa, dự đoán đồng thời 4 cấp phân loại học. Mỗi loài thuộc duy nhất 1 chi, mỗi chi duy nhất 1 họ, mỗi họ duy nhất 1 bộ.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Genus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Species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554480"/>
            <a:ext cx="4846320" cy="338328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691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DATASET ĐỒNG VĂN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116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2C5530"/>
                </a:solidFill>
                <a:latin typeface="Calibri"/>
              </a:rPr>
              <a:t>2 237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880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ảnh phấn hoa kính hiển 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1 780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204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216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886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241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3A2E"/>
                </a:solidFill>
                <a:latin typeface="Calibri"/>
              </a:rPr>
              <a:t>Lưu 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Mất cân bằng cấp Order (order 1+3 chiếm 82%). 7 loài có suffix _1/_2 cùng (order, family, genus) — cần làm rõ ý nghĩa sinh học.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2.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Kiến trúc Multi-head YOLO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"/>
              </a:rPr>
              <a:t>Ảnh đầu vào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3 × 224 × 224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286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2377440" cy="1005840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YOLO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06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4A017"/>
                </a:solidFill>
                <a:latin typeface="Calibri"/>
              </a:rPr>
              <a:t>yolov8s / yolo11x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286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10312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1280-d (chia sẻ)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286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5087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Order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5087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6 class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01168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0116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Family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0116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10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51460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Genus 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5146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16 class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01752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30175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Species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01752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22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Backbone chia sẻ + 4 head Linear song song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530"/>
                </a:solidFill>
                <a:latin typeface="Calibri"/>
              </a:rPr>
              <a:t>Multi-task regularization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Tránh overfit khi data ít (2 237 ảnh).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530"/>
                </a:solidFill>
                <a:latin typeface="Calibri"/>
              </a:rPr>
              <a:t>Feature dùng chung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120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Tự nhiên giúp consistency giữa 4 cấp.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530"/>
                </a:solidFill>
                <a:latin typeface="Calibri"/>
              </a:rPr>
              <a:t>Tiết kiệm tham số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120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10–50M params, không phải 4× cascade.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3. HUẤN LUYỆN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Hàm mất mát — 2 phương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440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440680" cy="457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200">
                <a:solidFill>
                  <a:srgbClr val="FFFFFF"/>
                </a:solidFill>
                <a:latin typeface="Calibri"/>
              </a:rPr>
              <a:t>BASELINE — Independent 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1F1F"/>
                </a:solidFill>
                <a:latin typeface="Calibri"/>
              </a:rPr>
              <a:t>L = Σ  λ_l · CE(z_l, y_l)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với l ∈ { order, family, genus, species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4 cross-entropy độc lập tại 4 cấp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Mỗi head học riêng, không bị ràng buộc.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Trọng số ưu tiên cấp cao:</a:t>
            </a:r>
          </a:p>
          <a:p>
            <a:pPr>
              <a:lnSpc>
                <a:spcPct val="130000"/>
              </a:lnSpc>
            </a:pPr>
            <a:r>
              <a:rPr sz="1200" b="1" i="0">
                <a:solidFill>
                  <a:srgbClr val="2C5530"/>
                </a:solidFill>
                <a:latin typeface="Calibri"/>
              </a:rPr>
              <a:t>    λ = (1.0, 0.9, 0.8, 0.7)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03A2E"/>
                </a:solidFill>
                <a:latin typeface="Calibri"/>
              </a:rPr>
              <a:t>✗  Không đảm bảo prediction nhất quán với cây taxonomy.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554480"/>
            <a:ext cx="5440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554480"/>
            <a:ext cx="5440680" cy="457200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200">
                <a:solidFill>
                  <a:srgbClr val="FFFFFF"/>
                </a:solidFill>
                <a:latin typeface="Calibri"/>
              </a:rPr>
              <a:t>ĐỀ XUẤT — Masked 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1945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1F1F"/>
                </a:solidFill>
                <a:latin typeface="Calibri"/>
              </a:rPr>
              <a:t>L = Σ  λ_l · CE(z_l ⊙ M_l, y_l)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60604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với M_l[i] = 1 nếu parent_l[i] = y_{l−1}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1089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Mask logits trước khi tính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520440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Logits ngoài mask → −∞ → softmax = 0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Mẫu chỉ phải distinguish trong siblings cùng cha.</a:t>
            </a:r>
          </a:p>
          <a:p>
            <a:pPr>
              <a:lnSpc>
                <a:spcPct val="130000"/>
              </a:lnSpc>
            </a:pPr>
            <a:r>
              <a:rPr sz="1200" b="1" i="0">
                <a:solidFill>
                  <a:srgbClr val="2C5530"/>
                </a:solidFill>
                <a:latin typeface="Calibri"/>
              </a:rPr>
              <a:t>•  Hard constraint taxonomy áp ngay từ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9377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C5530"/>
                </a:solidFill>
                <a:latin typeface="Calibri"/>
              </a:rPr>
              <a:t>✓  Ràng buộc cấu trúc cây trong gradient.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Setup chung cho cả 2 phương án: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AdamW · lr=1e-3 · wd=0.05 · cosine · 100 epoch · freeze 3 epoch đầu · early stop patience 20 ·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4. SUY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Hai chiến lược decoding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6B6B"/>
                </a:solidFill>
                <a:latin typeface="Calibri"/>
              </a:rPr>
              <a:t>A. Independent argmax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(baseline)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1F1F"/>
                </a:solidFill>
                <a:latin typeface="Calibri"/>
              </a:rPr>
              <a:t>ŷ_l = argmax(z_l)    ∀ 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Mỗi head argmax độc lập. Prediction có thể không nhất quán: ví dụ predict species X nhưng genus không phải cha của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5530"/>
                </a:solidFill>
                <a:latin typeface="Calibri"/>
              </a:rPr>
              <a:t>B. Top-down masked decoding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C5530"/>
                </a:solidFill>
                <a:latin typeface="Calibri"/>
              </a:rPr>
              <a:t>(đề xuất)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ŷ_o = argmax(z_o)</a:t>
            </a:r>
          </a:p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ŷ_f = argmax(z_f)  trong family có cha là ŷ_o</a:t>
            </a:r>
          </a:p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ŷ_g = argmax(z_g)  trong genus có cha là ŷ_f</a:t>
            </a:r>
          </a:p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ŷ_s = argmax(z_s)  trong species có cha là ŷ_g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TÍNH CHẤT QUAN TRỌNG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5530"/>
                </a:solidFill>
                <a:latin typeface="Calibri"/>
              </a:rPr>
              <a:t>Masked decoding đảm bảo 100% prediction là path hợp lệ trong cây taxonomy.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Áp dụng được cho cả baseline lẫn masked-trained model → ablation 2 (loss) × 2 (decode) = 4 cấu hình mỗi backbone.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5.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HierAcc trên tập test (241 ảnh)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5669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54480"/>
                <a:gridCol w="1280160"/>
                <a:gridCol w="1554480"/>
              </a:tblGrid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Decode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HierAcc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95.0%  ★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Best HierAcc theo backbone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75120" y="1965960"/>
          <a:ext cx="49377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F1F"/>
                </a:solidFill>
                <a:latin typeface="Calibri"/>
              </a:rPr>
              <a:t>Quan sát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5530"/>
                </a:solidFill>
                <a:latin typeface="Calibri"/>
              </a:rPr>
              <a:t>•  Best result: yolo11x + Masked CE → 95.0% HierAcc (vượt baseline +0.8%).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•  Masked CE + indep decode sụp đổ (7.9% / 6.6%) — bắt buộc decode masked.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•  Baseline + masked decode = Baseline + indep — baseline đã consistent tự nhiên.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Hiệu quả Masked CE phụ thuộc capacity backbone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440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40680" cy="457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yolov8s  ·  ~10M params  ·  backbone nhỏ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440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B03A2E"/>
                </a:solidFill>
                <a:latin typeface="Calibri"/>
              </a:rPr>
              <a:t>−1.3%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F1F"/>
                </a:solidFill>
                <a:latin typeface="Calibri"/>
              </a:rPr>
              <a:t>93.8%   →   92.5%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B03A2E"/>
                </a:solidFill>
                <a:latin typeface="Calibri"/>
              </a:rPr>
              <a:t>Hard constraint cản trở học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37360"/>
            <a:ext cx="5440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737360"/>
            <a:ext cx="5440680" cy="457200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yolo11x  ·  ~50M params  ·  backbone lớn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5440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2C5530"/>
                </a:solidFill>
                <a:latin typeface="Calibri"/>
              </a:rPr>
              <a:t>+0.8%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84048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F1F"/>
                </a:solidFill>
                <a:latin typeface="Calibri"/>
              </a:rPr>
              <a:t>94.2%   →   95.0%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25196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C5530"/>
                </a:solidFill>
                <a:latin typeface="Calibri"/>
              </a:rPr>
              <a:t>Đủ capacity, hard constraint thành regularizer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DIỄN GIẢI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Masked CE thêm hard constraint vào loss landscape. Backbone nhỏ không đủ capacity để vừa fit feature vừa thoả ràng buộc → bị penalty. Backbone lớn có dư capacity, hard constraint trở thành regularizer hữu ích.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6.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Tính nhất quán với cây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2C5530"/>
                </a:solidFill>
                <a:latin typeface="Calibri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F1F1F"/>
                </a:solidFill>
                <a:latin typeface="Calibri"/>
              </a:rPr>
              <a:t>prediction là path hợp lệ trong cây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Với masked decoding, model không bao giờ output "loài X nhưng chi không phải cha của X".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F1F"/>
                </a:solidFill>
                <a:latin typeface="Calibri"/>
              </a:rPr>
              <a:t>Ghi chú khi train masked 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1" i="0">
                <a:solidFill>
                  <a:srgbClr val="B03A2E"/>
                </a:solidFill>
                <a:latin typeface="Calibri"/>
              </a:rPr>
              <a:t>Lưu ý kỹ thuật quan trọng:</a:t>
            </a:r>
          </a:p>
          <a:p>
            <a:pPr>
              <a:lnSpc>
                <a:spcPct val="14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Lần train đầu bị early stop sai vì hàm evaluate() dùng indep argmax (không match training) → val HierAcc ~9%.</a:t>
            </a:r>
          </a:p>
          <a:p>
            <a:pPr>
              <a:lnSpc>
                <a:spcPct val="140000"/>
              </a:lnSpc>
            </a:pPr>
            <a:r>
              <a:rPr sz="600" b="0" i="0">
                <a:solidFill>
                  <a:srgbClr val="1F1F1F"/>
                </a:solidFill>
                <a:latin typeface="Calibri"/>
              </a:rPr>
              <a:t> </a:t>
            </a:r>
          </a:p>
          <a:p>
            <a:pPr>
              <a:lnSpc>
                <a:spcPct val="140000"/>
              </a:lnSpc>
            </a:pPr>
            <a:r>
              <a:rPr sz="1200" b="1" i="0">
                <a:solidFill>
                  <a:srgbClr val="1F1F1F"/>
                </a:solidFill>
                <a:latin typeface="Calibri"/>
              </a:rPr>
              <a:t>Sau khi fix evaluate() dùng masked decoding:</a:t>
            </a:r>
          </a:p>
          <a:p>
            <a:pPr>
              <a:lnSpc>
                <a:spcPct val="140000"/>
              </a:lnSpc>
            </a:pPr>
            <a:r>
              <a:rPr sz="1100" b="0" i="0">
                <a:solidFill>
                  <a:srgbClr val="1F1F1F"/>
                </a:solidFill>
                <a:latin typeface="Calibri"/>
              </a:rPr>
              <a:t>•  yolov8s masked: train 42 epoch, val HierAcc 94.9%</a:t>
            </a:r>
          </a:p>
          <a:p>
            <a:pPr>
              <a:lnSpc>
                <a:spcPct val="140000"/>
              </a:lnSpc>
            </a:pPr>
            <a:r>
              <a:rPr sz="1100" b="0" i="0">
                <a:solidFill>
                  <a:srgbClr val="1F1F1F"/>
                </a:solidFill>
                <a:latin typeface="Calibri"/>
              </a:rPr>
              <a:t>•  yolo11x masked: train 98 epoch, val HierAcc 95.4%</a:t>
            </a:r>
          </a:p>
          <a:p>
            <a:pPr>
              <a:lnSpc>
                <a:spcPct val="140000"/>
              </a:lnSpc>
            </a:pPr>
            <a:r>
              <a:rPr sz="600" b="0" i="0">
                <a:solidFill>
                  <a:srgbClr val="1F1F1F"/>
                </a:solidFill>
                <a:latin typeface="Calibri"/>
              </a:rPr>
              <a:t> </a:t>
            </a:r>
          </a:p>
          <a:p>
            <a:pPr>
              <a:lnSpc>
                <a:spcPct val="140000"/>
              </a:lnSpc>
            </a:pPr>
            <a:r>
              <a:rPr sz="1100" b="0" i="1">
                <a:solidFill>
                  <a:srgbClr val="2C5530"/>
                </a:solidFill>
                <a:latin typeface="Calibri"/>
              </a:rPr>
              <a:t>→  yolo11x cần nhiều epoch hơn để converge với masked 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Baseline (Indep CE) thực nghiệm cũng đạt consistency tự nhiên ~94%, nhưng không có đảm bảo lý thuyết.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Tổng kết &amp; việc tiếp theo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017"/>
                </a:solidFill>
                <a:latin typeface="Calibri"/>
              </a:rPr>
              <a:t>ĐÃ HOÀN THÀNH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Multi-head YOLO classifier (~200 LOC).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Masked CE training + masked decoding.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Ablation 4 cấu hình × 2 backbone (8 lần test).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Best: yolo11x + Masked CE = 95.0% HierAcc.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Phát hiện capacity-dependence của Masked 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017"/>
                </a:solidFill>
                <a:latin typeface="Calibri"/>
              </a:rPr>
              <a:t>CẦN LÀM TIẾP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Multi-seed validation (3-5 seed).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So sánh baseline ngoài (flat, cascade, hier softmax).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Curriculum learning để cứu yolov8s.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Bổ sung metadata dataset.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Làm rõ ý nghĩa sinh học suffix _1 / _2.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5669280"/>
            <a:ext cx="121889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C5530"/>
                </a:solidFill>
                <a:latin typeface="Calibri"/>
              </a:rPr>
              <a:t>Xin cảm ơn — Mời thầy/cô góp 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 spc="600">
                <a:solidFill>
                  <a:srgbClr val="2C5530"/>
                </a:solidFill>
                <a:latin typeface="Calibri"/>
              </a:rPr>
              <a:t>Q  &amp; 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