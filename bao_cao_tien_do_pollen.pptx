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5" r:id="rId16"/>
    <p:sldId id="258" r:id="rId9"/>
    <p:sldId id="259" r:id="rId10"/>
    <p:sldId id="260" r:id="rId11"/>
    <p:sldId id="261" r:id="rId12"/>
    <p:sldId id="262" r:id="rId13"/>
    <p:sldId id="266" r:id="rId17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3.xml"/><Relationship Id="rId17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6B6B"/>
            </a:solidFill>
          </c:spPr>
          <c:cat>
            <c:strRef>
              <c:f>Sheet1!$A$2:$A$3</c:f>
              <c:strCache>
                <c:ptCount val="2"/>
                <c:pt idx="0">
                  <c:v>yolov8s (~10M)</c:v>
                </c:pt>
                <c:pt idx="1">
                  <c:v>yolo11x (~50M)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93.8</c:v>
                </c:pt>
                <c:pt idx="1">
                  <c:v>94.2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Masked CE</c:v>
                </c:pt>
              </c:strCache>
            </c:strRef>
          </c:tx>
          <c:spPr>
            <a:solidFill>
              <a:srgbClr val="2C5530"/>
            </a:solidFill>
          </c:spPr>
          <c:cat>
            <c:strRef>
              <c:f>Sheet1!$A$2:$A$3</c:f>
              <c:strCache>
                <c:ptCount val="2"/>
                <c:pt idx="0">
                  <c:v>yolov8s (~10M)</c:v>
                </c:pt>
                <c:pt idx="1">
                  <c:v>yolo11x (~50M)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92.5</c:v>
                </c:pt>
                <c:pt idx="1">
                  <c:v>95.0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6.0"/>
          <c:min val="9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D4A017"/>
                </a:solidFill>
                <a:latin typeface="Calibri"/>
              </a:rPr>
              <a:t>BÁO CÁO TIẾN ĐỘ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Phân loại Phấn hoa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Cấu trúc Phân loại học Phân cấp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D4A017"/>
                </a:solidFill>
                <a:latin typeface="Calibri"/>
              </a:rPr>
              <a:t>Multi-head YOLO Classifier với Masked Cross-Entropy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54880"/>
            <a:ext cx="10972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Báo cáo viên:    Đỗ Đức Mạnh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GVHD:                [cần điền]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Đơn vị · Ngày:   [cần điền] · 23/05/2026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1.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Bài toán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Cho 1 ảnh phấn hoa, dự đoán đồng thời 4 cấp phân loại học. Mỗi loài thuộc duy nhất 1 chi, mỗi chi duy nhất 1 họ, mỗi họ duy nhất 1 bộ.</a:t>
            </a:r>
          </a:p>
          <a:p>
            <a:r>
              <a:rPr sz="1200" i="1">
                <a:solidFill>
                  <a:srgbClr val="6B6B6B"/>
                </a:solidFill>
                <a:latin typeface="Calibri"/>
              </a:rPr>
              <a:t>Vì sao hierarchical: sai cấp cao (Bộ/Họ) nghiêm trọng hơn sai cấp thấp (loài cùng chi). Tận dụng cấu trúc cây để cải thiện accuracy và đảm bảo prediction nhất quán.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Genus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Species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554480"/>
            <a:ext cx="4846320" cy="338328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691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DATASET ĐỒNG VĂN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11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2C5530"/>
                </a:solidFill>
                <a:latin typeface="Calibri"/>
              </a:rPr>
              <a:t>2 237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ảnh phấn hoa kính hiển 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1 780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204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86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241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3A2E"/>
                </a:solidFill>
                <a:latin typeface="Calibri"/>
              </a:rPr>
              <a:t>Lưu 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Mất cân bằng cấp Order (order 1+3 chiếm 82%). 7 loài có suffix _1/_2 cùng (order, family, genus) — cần làm rõ ý nghĩa sinh học.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CAF50"/>
                </a:solidFill>
              </a:rPr>
              <a:t>1. BỐI CẢNH (tiếp)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Cấu trúc cây taxonomy &amp; phân phối lớp</a:t>
            </a:r>
          </a:p>
        </p:txBody>
      </p:sp>
      <p:pic>
        <p:nvPicPr>
          <p:cNvPr id="4" name="Picture 3" descr="fig_taxonom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035040" cy="3801961"/>
          </a:xfrm>
          <a:prstGeom prst="rect">
            <a:avLst/>
          </a:prstGeom>
        </p:spPr>
      </p:pic>
      <p:pic>
        <p:nvPicPr>
          <p:cNvPr id="5" name="Picture 4" descr="fig_specie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5394960" cy="21711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02920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Cây taxonomy 4 cấp với 22 loài Đồng Văn. Order 1 (xanh lá) và Order 3 (xanh dương) chiếm phần lớn cây — phân bố không cân bằng. Order 2 và 4 chỉ có 1 loài duy nhất.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02920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Số ảnh train trung bình ~80/loài (median = 79). cler_1 có 190 ảnh (cao bất thường, 2.4× median); tore có 60 ảnh (thấp nhất). Class imbalance ratio max:min ≈ 3.2:1.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Báo cáo tiến độ — Phân loại phấn hoa hierarchical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2.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Kiến trúc Multi-head YOLO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"/>
              </a:rPr>
              <a:t>Ảnh đầu vào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3 × 224 × 224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2377440" cy="100584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YOLO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06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4A017"/>
                </a:solidFill>
                <a:latin typeface="Calibri"/>
              </a:rPr>
              <a:t>yolov8s / yolo11x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10312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1280-d (chia sẻ)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5087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Order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5087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6 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Family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10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51460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Genus 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5146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16 class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01752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0175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Species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01752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22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Backbone chia sẻ + 4 head Linear song song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Multi-task regularization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Tránh overfit khi data ít (2 237 ảnh).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Feature dùng chung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Tự nhiên giúp consistency giữa 4 cấp.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Tiết kiệm tham số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10–50M params, không phải 4× cascade.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3. HUẤN LUYỆN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Hàm mất mát — 2 phương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440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200">
                <a:solidFill>
                  <a:srgbClr val="FFFFFF"/>
                </a:solidFill>
                <a:latin typeface="Calibri"/>
              </a:rPr>
              <a:t>BASELINE — Independent 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L = Σ  λ_l · CE(z_l, y_l)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với l ∈ { order, family, genus, species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4 cross-entropy độc lập tại 4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Mỗi head học riêng, không bị ràng buộc.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Trọng số ưu tiên cấp cao: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2C5530"/>
                </a:solidFill>
                <a:latin typeface="Calibri"/>
              </a:rPr>
              <a:t>    λ = (1.0, 0.9, 0.8, 0.7)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3A2E"/>
                </a:solidFill>
                <a:latin typeface="Calibri"/>
              </a:rPr>
              <a:t>✗  Không đảm bảo prediction nhất quán với cây taxonomy.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55448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554480"/>
            <a:ext cx="5440680" cy="45720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200">
                <a:solidFill>
                  <a:srgbClr val="FFFFFF"/>
                </a:solidFill>
                <a:latin typeface="Calibri"/>
              </a:rPr>
              <a:t>ĐỀ XUẤT — Masked 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94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1F1F"/>
                </a:solidFill>
                <a:latin typeface="Calibri"/>
              </a:rPr>
              <a:t>L = Σ  λ_l · CE(m(z_l), y_l)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060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m(z_l)[i] = z_l[i] nếu parent_l[i]=y_{l−1}, ngược lại −∞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089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Mask logits trước khi tính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20440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Logits ngoài mask → −∞ → softmax = 0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Mẫu chỉ phải distinguish trong siblings cùng cha.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2C5530"/>
                </a:solidFill>
                <a:latin typeface="Calibri"/>
              </a:rPr>
              <a:t>•  Hard constraint taxonomy áp ngay từ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9377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C5530"/>
                </a:solidFill>
                <a:latin typeface="Calibri"/>
              </a:rPr>
              <a:t>✓  Ràng buộc cấu trúc cây trong gradient.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Setup chung cho cả 2 phương án: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AdamW · lr=1e-3 · wd=0.05 · cosine · 100 epoch · freeze 3 epoch đầu · early stop patience 20 · seed 42 · λ = (1.0, 0.9, 0.8, 0.7) chung cho cả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4. SUY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Hai chiến lược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6B6B"/>
                </a:solidFill>
                <a:latin typeface="Calibri"/>
              </a:rPr>
              <a:t>A. Independent argmax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1F1F"/>
                </a:solidFill>
                <a:latin typeface="Calibri"/>
              </a:rPr>
              <a:t>ŷ_l = argmax(z_l)    ∀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Mỗi head argmax độc lập. Prediction có thể không nhất quán: ví dụ predict species X nhưng genus không phải cha của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530"/>
                </a:solidFill>
                <a:latin typeface="Calibri"/>
              </a:rPr>
              <a:t>B. Top-down masked decoding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C5530"/>
                </a:solidFill>
                <a:latin typeface="Calibri"/>
              </a:rPr>
              <a:t>(đề xuất)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ŷ_o = argmax(z_o)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ŷ_f = argmax(z_f)  trong family có cha là ŷ_o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ŷ_g = argmax(z_g)  trong genus có cha là ŷ_f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ŷ_s = argmax(z_s)  trong species có cha là ŷ_g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TÍNH CHẤT QUAN TRỌNG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530"/>
                </a:solidFill>
                <a:latin typeface="Calibri"/>
              </a:rPr>
              <a:t>Masked decoding đảm bảo 100% prediction là path hợp lệ trong cây taxonomy.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Áp dụng được cho cả baseline lẫn masked-trained model → ablation 2 (loss) × 2 (decode) = 4 cấu hình mỗi backbone.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5.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HierAcc trên tập test (241 ảnh)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280160"/>
                <a:gridCol w="1554480"/>
              </a:tblGrid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Decode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HierAcc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95.0%  ★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Best HierAcc theo backbone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965960"/>
          <a:ext cx="49377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Quan sát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530"/>
                </a:solidFill>
                <a:latin typeface="Calibri"/>
              </a:rPr>
              <a:t>•  Best result: yolo11x + Masked CE → 95.0% HierAcc (vượt baseline +0.8%).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 Hai dòng tô đỏ là failure case: Masked CE bắt buộc dùng masked decoding (indep argmax sụp đổ xuống 7.9% / 6.6%).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•  Baseline + masked decode = Baseline + indep — baseline đã consistent tự nhiên.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Hiệu quả Masked CE phụ thuộc capacity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yolov8s  ·  ~10M params  ·  backbone nhỏ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B03A2E"/>
                </a:solidFill>
                <a:latin typeface="Calibri"/>
              </a:rPr>
              <a:t>−1.3%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93.8%   →   92.5%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B03A2E"/>
                </a:solidFill>
                <a:latin typeface="Calibri"/>
              </a:rPr>
              <a:t>Hard constraint cản trở học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440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5440680" cy="45720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yolo11x  ·  ~50M params  ·  backbone lớn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2C5530"/>
                </a:solidFill>
                <a:latin typeface="Calibri"/>
              </a:rPr>
              <a:t>+0.8%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840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94.2%   →   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C5530"/>
                </a:solidFill>
                <a:latin typeface="Calibri"/>
              </a:rPr>
              <a:t>Đủ capacity, hard constraint thành regularizer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DIỄN GIẢI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Masked CE thêm hard constraint vào loss landscape. Backbone nhỏ không đủ capacity để vừa fit feature vừa thoả ràng buộc → bị penalty. Backbone lớn có dư capacity, hard constraint trở thành regularizer hữu ích.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CAF50"/>
                </a:solidFill>
              </a:rPr>
              <a:t>SO SÁNH VỚI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Multi-head Masked CE thắng Cascade 4-model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Baseline Cascade: 4 model yolo11x-cls riêng (cho Order/Family/Genus/Species), cùng args với multi-head. Inference: 4 model decode độc lập → ghép thành chain.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  <a:gridCol w="1828800"/>
                <a:gridCol w="1828800"/>
                <a:gridCol w="237744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Tiêu chí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Cascade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Multi-head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Indep 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Multi-head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Masked CE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Δ Masked vs Cascade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/>
                        <a:t>HierAcc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95.0%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32"/>
                          </a:solidFill>
                        </a:rPr>
                        <a:t>+1.6%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/>
                        <a:t>Tổng tham số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28M ×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28M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28M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32"/>
                          </a:solidFill>
                        </a:rPr>
                        <a:t>÷4 (28M vs 112M)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/>
                        <a:t>Inference time / 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1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32"/>
                          </a:solidFill>
                        </a:rPr>
                        <a:t>÷4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/>
                        <a:t>Consistency (% path hợp lệ)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95.0%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100% emp.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100% guaranteed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32"/>
                          </a:solidFill>
                        </a:rPr>
                        <a:t>+5%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/>
                        <a:t>VRAM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 lần riêng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 lần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</a:rPr>
                        <a:t>1 lần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E7D32"/>
                          </a:solidFill>
                        </a:rPr>
                        <a:t>÷4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26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CAF50"/>
                </a:solidFill>
              </a:rPr>
              <a:t>QUAN SÁT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7474F"/>
                </a:solidFill>
              </a:rPr>
              <a:t>•  Cascade có per-level acc CAO NHẤT (97.5/96.7/96.7/96.3%) — mỗi model riêng có toàn bộ capacity dành cho cấp của nó.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53935"/>
                </a:solidFill>
              </a:rPr>
              <a:t>•  NHƯNG HierAcc rớt 1.6% vì 4 model decide độc lập — 12/241 sample (5%) có chain không hợp lệ trong cây taxonomy.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•  Multi-head + Masked CE: dùng 1/4 tham số, đảm bảo 100% consistency, vẫn cao hơn HierAcc 1.6%.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Báo cáo tiến độ — Phân loại phấn hoa hierarchical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6.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Tính nhất quán với cây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2C5530"/>
                </a:solidFill>
                <a:latin typeface="Calibri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F1F1F"/>
                </a:solidFill>
                <a:latin typeface="Calibri"/>
              </a:rPr>
              <a:t>prediction là path hợp lệ trong cây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Với masked decoding, model không bao giờ output "loài X nhưng chi không phải cha của X".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Ghi chú khi train masked 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B03A2E"/>
                </a:solidFill>
                <a:latin typeface="Calibri"/>
              </a:rPr>
              <a:t>Lưu ý kỹ thuật: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•  Lần train đầu masked CE bị early stop sai vì evaluate() dùng indep argmax (không match training) → val HierAcc ~9%.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•  Đã fix evaluate() dùng masked decoding. Số liệu val (best checkpoint):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     yolov8s masked: 42 epoch, val HierAcc 94.9%   |   yolo11x masked: 98 epoch, val HierAcc 95.4%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•  Test HierAcc (báo cáo ở slide 6): yolov8s 92.5% · yolo11x 95.0%. Val cao hơn test do val gần distribution train hơn.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Baseline (Indep CE) thực nghiệm cũng đạt consistency tự nhiên ~94%, nhưng không có đảm bảo lý thuyết.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Tổng kết &amp; việc tiếp theo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alibri"/>
              </a:rPr>
              <a:t>ĐÃ HOÀN THÀNH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Calibri"/>
              </a:rPr>
              <a:t>✓  Multi-head YOLO classifier (~200 LOC).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 Masked CE training + masked decoding.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 Ablation 4 cấu hình × 2 backbone (8 lần test).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 Baseline Cascade (4 model riêng): HierAcc 93.4%.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 Best: yolo11x + Masked CE = 95.0% HierAcc (vượt Cascade +1.6%, ít hơn 4× params).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 Phát hiện capacity-dependence của Masked 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alibri"/>
              </a:rPr>
              <a:t>CẦN LÀM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Calibri"/>
              </a:rPr>
              <a:t>→  Multi-seed validation (3-5 seed).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→  So sánh thêm: hier softmax, tree-distance loss.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→  Curriculum learning để cứu yolov8s.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→  Bổ sung metadata dataset.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→  Làm rõ ý nghĩa sinh học suffix _1 / _2.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889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C5530"/>
                </a:solidFill>
                <a:latin typeface="Calibri"/>
              </a:rPr>
              <a:t>Xin cảm ơn — Mời thầy/cô góp 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 spc="600">
                <a:solidFill>
                  <a:srgbClr val="2C5530"/>
                </a:solidFill>
                <a:latin typeface="Calibri"/>
              </a:rPr>
              <a:t>Q  &amp; 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