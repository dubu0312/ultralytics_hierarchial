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5" r:id="rId16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6B6B"/>
            </a:solidFill>
          </c:spPr>
          <c:cat>
            <c:strRef>
              <c:f>Sheet1!$A$2:$A$3</c:f>
              <c:strCache>
                <c:ptCount val="2"/>
                <c:pt idx="0">
                  <c:v>yolov8s (~10M)</c:v>
                </c:pt>
                <c:pt idx="1">
                  <c:v>yolo11x (~50M)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93.8</c:v>
                </c:pt>
                <c:pt idx="1">
                  <c:v>94.2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Masked CE</c:v>
                </c:pt>
              </c:strCache>
            </c:strRef>
          </c:tx>
          <c:spPr>
            <a:solidFill>
              <a:srgbClr val="2C5530"/>
            </a:solidFill>
          </c:spPr>
          <c:cat>
            <c:strRef>
              <c:f>Sheet1!$A$2:$A$3</c:f>
              <c:strCache>
                <c:ptCount val="2"/>
                <c:pt idx="0">
                  <c:v>yolov8s (~10M)</c:v>
                </c:pt>
                <c:pt idx="1">
                  <c:v>yolo11x (~50M)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92.5</c:v>
                </c:pt>
                <c:pt idx="1">
                  <c:v>95.0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6.0"/>
          <c:min val="9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640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D4A017"/>
                </a:solidFill>
                <a:latin typeface="Calibri"/>
              </a:rPr>
              <a:t>BÁO CÁO TIẾN ĐỘ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Phân loại Phấn hoa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Cấu trúc Phân loại học Phân cấp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D4A017"/>
                </a:solidFill>
                <a:latin typeface="Calibri"/>
              </a:rPr>
              <a:t>Multi-head YOLO Classifier với Masked Cross-Entropy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54880"/>
            <a:ext cx="10972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Báo cáo viên:    Đỗ Đức Mạnh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GVHD:                [cần điền]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97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Đơn vị · Ngày:   [cần điền] · 23/05/2026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1. BỐI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Bài toán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1F1F"/>
                </a:solidFill>
                <a:latin typeface="Calibri"/>
              </a:rPr>
              <a:t>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Cho 1 ảnh phấn hoa, dự đoán đồng thời 4 cấp phân loại học. Mỗi loài thuộc duy nhất 1 chi, mỗi chi duy nhất 1 họ, mỗi họ duy nhất 1 bộ.</a:t>
            </a:r>
          </a:p>
          <a:p>
            <a:r>
              <a:rPr sz="1200" i="1">
                <a:solidFill>
                  <a:srgbClr val="6B6B6B"/>
                </a:solidFill>
                <a:latin typeface="Calibri"/>
              </a:rPr>
              <a:t>Vì sao hierarchical: sai cấp cao (Bộ/Họ) nghiêm trọng hơn sai cấp thấp (loài cùng chi). Tận dụng cấu trúc cây để cải thiện accuracy và đảm bảo prediction nhất quán.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Family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Genus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08960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C5530"/>
                </a:solidFill>
                <a:latin typeface="Calibri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49039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Species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554480"/>
            <a:ext cx="4846320" cy="338328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691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DATASET ĐỒNG VĂN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1168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2C5530"/>
                </a:solidFill>
                <a:latin typeface="Calibri"/>
              </a:rPr>
              <a:t>2 237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880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ảnh phấn hoa kính hiển 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1 780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204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216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886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1F1F"/>
                </a:solidFill>
                <a:latin typeface="Calibri"/>
              </a:rPr>
              <a:t>241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94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03A2E"/>
                </a:solidFill>
                <a:latin typeface="Calibri"/>
              </a:rPr>
              <a:t>Lưu 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9496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Mất cân bằng cấp Order (order 1+3 chiếm 82%). 7 loài có suffix _1/_2 cùng (order, family, genus) — cần làm rõ ý nghĩa sinh học.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CAF50"/>
                </a:solidFill>
              </a:rPr>
              <a:t>1. BỐI CẢNH (tiếp)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Cấu trúc cây taxonomy &amp; phân phối lớp</a:t>
            </a:r>
          </a:p>
        </p:txBody>
      </p:sp>
      <p:pic>
        <p:nvPicPr>
          <p:cNvPr id="4" name="Picture 3" descr="fig_taxonomy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035040" cy="3801961"/>
          </a:xfrm>
          <a:prstGeom prst="rect">
            <a:avLst/>
          </a:prstGeom>
        </p:spPr>
      </p:pic>
      <p:pic>
        <p:nvPicPr>
          <p:cNvPr id="5" name="Picture 4" descr="fig_specie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80160"/>
            <a:ext cx="5394960" cy="21711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02920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Cây taxonomy 4 cấp với 22 loài Đồng Văn. Order 1 (xanh lá) và Order 3 (xanh dương) chiếm phần lớn cây — phân bố không cân bằng. Order 2 và 4 chỉ có 1 loài duy nhất.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502920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Số ảnh train trung bình ~80/loài (median = 79). cler_1 có 190 ảnh (cao bất thường, 2.4× median); tore có 60 ảnh (thấp nhất). Class imbalance ratio max:min ≈ 3.2:1.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Báo cáo tiến độ — Phân loại phấn hoa hierarchical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2.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Kiến trúc Multi-head YOLO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"/>
              </a:rPr>
              <a:t>Ảnh đầu vào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3 × 224 × 224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286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2377440" cy="1005840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YOLO 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060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4A017"/>
                </a:solidFill>
                <a:latin typeface="Calibri"/>
              </a:rPr>
              <a:t>yolov8s / yolo11x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2286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10312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F1F1F"/>
                </a:solidFill>
                <a:latin typeface="Calibri"/>
              </a:rP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1280-d (chia sẻ)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2860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5087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Order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50876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6 class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01168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01168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Family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0116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10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251460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251460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Genus 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25146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16 class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017520"/>
            <a:ext cx="34747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30175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Species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01752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4A017"/>
                </a:solidFill>
                <a:latin typeface="Calibri"/>
              </a:rPr>
              <a:t>22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840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Backbone chia sẻ + 4 head Linear song song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530"/>
                </a:solidFill>
                <a:latin typeface="Calibri"/>
              </a:rPr>
              <a:t>Multi-task regularization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Tránh overfit khi data ít (2 237 ảnh).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530"/>
                </a:solidFill>
                <a:latin typeface="Calibri"/>
              </a:rPr>
              <a:t>Feature dùng chung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1206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Tự nhiên giúp consistency giữa 4 cấp.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530"/>
                </a:solidFill>
                <a:latin typeface="Calibri"/>
              </a:rPr>
              <a:t>Tiết kiệm tham số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120640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10–50M params, không phải 4× cascade.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3. HUẤN LUYỆN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Hàm mất mát — 2 phương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440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440680" cy="457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200">
                <a:solidFill>
                  <a:srgbClr val="FFFFFF"/>
                </a:solidFill>
                <a:latin typeface="Calibri"/>
              </a:rPr>
              <a:t>BASELINE — Independent 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1F1F1F"/>
                </a:solidFill>
                <a:latin typeface="Calibri"/>
              </a:rPr>
              <a:t>L = Σ  λ_l · CE(z_l, y_l)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với l ∈ { order, family, genus, species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4 cross-entropy độc lập tại 4 cấp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Mỗi head học riêng, không bị ràng buộc.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Trọng số ưu tiên cấp cao:</a:t>
            </a:r>
          </a:p>
          <a:p>
            <a:pPr>
              <a:lnSpc>
                <a:spcPct val="130000"/>
              </a:lnSpc>
            </a:pPr>
            <a:r>
              <a:rPr sz="1200" b="1" i="0">
                <a:solidFill>
                  <a:srgbClr val="2C5530"/>
                </a:solidFill>
                <a:latin typeface="Calibri"/>
              </a:rPr>
              <a:t>    λ = (1.0, 0.9, 0.8, 0.7)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03A2E"/>
                </a:solidFill>
                <a:latin typeface="Calibri"/>
              </a:rPr>
              <a:t>✗  Không đảm bảo prediction nhất quán với cây taxonomy.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554480"/>
            <a:ext cx="5440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554480"/>
            <a:ext cx="5440680" cy="457200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200">
                <a:solidFill>
                  <a:srgbClr val="FFFFFF"/>
                </a:solidFill>
                <a:latin typeface="Calibri"/>
              </a:rPr>
              <a:t>ĐỀ XUẤT — Masked 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1945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F1F1F"/>
                </a:solidFill>
                <a:latin typeface="Calibri"/>
              </a:rPr>
              <a:t>L = Σ  λ_l · CE(m(z_l), y_l)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60604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m(z_l)[i] = z_l[i] nếu parent_l[i]=y_{l−1}, ngược lại −∞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1089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Mask logits trước khi tính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520440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Logits ngoài mask → −∞ → softmax = 0</a:t>
            </a:r>
          </a:p>
          <a:p>
            <a:pPr>
              <a:lnSpc>
                <a:spcPct val="130000"/>
              </a:lnSpc>
            </a:pPr>
            <a:r>
              <a:rPr sz="1200" b="0" i="0">
                <a:solidFill>
                  <a:srgbClr val="1F1F1F"/>
                </a:solidFill>
                <a:latin typeface="Calibri"/>
              </a:rPr>
              <a:t>•  Mẫu chỉ phải distinguish trong siblings cùng cha.</a:t>
            </a:r>
          </a:p>
          <a:p>
            <a:pPr>
              <a:lnSpc>
                <a:spcPct val="130000"/>
              </a:lnSpc>
            </a:pPr>
            <a:r>
              <a:rPr sz="1200" b="1" i="0">
                <a:solidFill>
                  <a:srgbClr val="2C5530"/>
                </a:solidFill>
                <a:latin typeface="Calibri"/>
              </a:rPr>
              <a:t>•  Hard constraint taxonomy áp ngay từ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93776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C5530"/>
                </a:solidFill>
                <a:latin typeface="Calibri"/>
              </a:rPr>
              <a:t>✓  Ràng buộc cấu trúc cây trong gradient.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F1F"/>
                </a:solidFill>
                <a:latin typeface="Calibri"/>
              </a:rPr>
              <a:t>Setup chung cho cả 2 phương án: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AdamW · lr=1e-3 · wd=0.05 · cosine · 100 epoch · freeze 3 epoch đầu · early stop patience 20 · seed 42 · λ = (1.0, 0.9, 0.8, 0.7) chung cho cả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4. SUY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Hai chiến lược decoding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B6B6B"/>
                </a:solidFill>
                <a:latin typeface="Calibri"/>
              </a:rPr>
              <a:t>A. Independent argmax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(baseline)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1F1F"/>
                </a:solidFill>
                <a:latin typeface="Calibri"/>
              </a:rPr>
              <a:t>ŷ_l = argmax(z_l)    ∀ 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Mỗi head argmax độc lập. Prediction có thể không nhất quán: ví dụ predict species X nhưng genus không phải cha của 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5530"/>
                </a:solidFill>
                <a:latin typeface="Calibri"/>
              </a:rPr>
              <a:t>B. Top-down masked decoding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2C5530"/>
                </a:solidFill>
                <a:latin typeface="Calibri"/>
              </a:rPr>
              <a:t>(đề xuất)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ŷ_o = argmax(z_o)</a:t>
            </a:r>
          </a:p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ŷ_f = argmax(z_f)  trong family có cha là ŷ_o</a:t>
            </a:r>
          </a:p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ŷ_g = argmax(z_g)  trong genus có cha là ŷ_f</a:t>
            </a:r>
          </a:p>
          <a:p>
            <a:pPr>
              <a:lnSpc>
                <a:spcPct val="140000"/>
              </a:lnSpc>
            </a:pPr>
            <a:r>
              <a:rPr sz="1300" b="0" i="0">
                <a:solidFill>
                  <a:srgbClr val="1F1F1F"/>
                </a:solidFill>
                <a:latin typeface="Calibri"/>
              </a:rPr>
              <a:t>ŷ_s = argmax(z_s)  trong species có cha là ŷ_g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TÍNH CHẤT QUAN TRỌNG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5530"/>
                </a:solidFill>
                <a:latin typeface="Calibri"/>
              </a:rPr>
              <a:t>Masked decoding đảm bảo 100% prediction là path hợp lệ trong cây taxonomy.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Áp dụng được cho cả baseline lẫn masked-trained model → ablation 2 (loss) × 2 (decode) = 4 cấu hình mỗi backbone.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5.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HierAcc trên tập test (241 ảnh)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5669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54480"/>
                <a:gridCol w="1280160"/>
                <a:gridCol w="1554480"/>
              </a:tblGrid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Decode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HierAcc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yolov8s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Indep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1F1F1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1F1F1F"/>
                          </a:solidFill>
                          <a:latin typeface="Calibri"/>
                        </a:rPr>
                        <a:t>94.2%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0">
                          <a:solidFill>
                            <a:srgbClr val="B03A2E"/>
                          </a:solidFill>
                          <a:latin typeface="Calibri"/>
                        </a:rPr>
                        <a:t>Indep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100" b="1">
                          <a:solidFill>
                            <a:srgbClr val="B03A2E"/>
                          </a:solidFill>
                          <a:latin typeface="Calibri"/>
                        </a:rPr>
                        <a:t>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yolo11x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Masked CE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Masked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95.0%  ★</a:t>
                      </a:r>
                    </a:p>
                  </a:txBody>
                  <a:tcPr>
                    <a:solidFill>
                      <a:srgbClr val="2C553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554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F1F"/>
                </a:solidFill>
                <a:latin typeface="Calibri"/>
              </a:rPr>
              <a:t>Best HierAcc theo backbone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675120" y="1965960"/>
          <a:ext cx="49377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F1F"/>
                </a:solidFill>
                <a:latin typeface="Calibri"/>
              </a:rPr>
              <a:t>Quan sát chính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5530"/>
                </a:solidFill>
                <a:latin typeface="Calibri"/>
              </a:rPr>
              <a:t>•  Best result: yolo11x + Masked CE → 95.0% HierAcc (vượt baseline +0.8%).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Calibri"/>
              </a:rPr>
              <a:t>•  Hai dòng tô đỏ là failure case: Masked CE bắt buộc dùng masked decoding (indep argmax sụp đổ xuống 7.9% / 6.6%).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•  Baseline + masked decode = Baseline + indep — baseline đã consistent tự nhiên.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Hiệu quả Masked CE phụ thuộc capacity backbone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5440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40680" cy="4572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yolov8s  ·  ~10M params  ·  backbone nhỏ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440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B03A2E"/>
                </a:solidFill>
                <a:latin typeface="Calibri"/>
              </a:rPr>
              <a:t>−1.3%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F1F"/>
                </a:solidFill>
                <a:latin typeface="Calibri"/>
              </a:rPr>
              <a:t>93.8%   →   92.5%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B03A2E"/>
                </a:solidFill>
                <a:latin typeface="Calibri"/>
              </a:rPr>
              <a:t>Hard constraint cản trở học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737360"/>
            <a:ext cx="544068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737360"/>
            <a:ext cx="5440680" cy="457200"/>
          </a:xfrm>
          <a:prstGeom prst="rect">
            <a:avLst/>
          </a:prstGeom>
          <a:solidFill>
            <a:srgbClr val="2C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yolo11x  ·  ~50M params  ·  backbone lớn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68880"/>
            <a:ext cx="5440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2C5530"/>
                </a:solidFill>
                <a:latin typeface="Calibri"/>
              </a:rPr>
              <a:t>+0.8%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84048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1F1F"/>
                </a:solidFill>
                <a:latin typeface="Calibri"/>
              </a:rPr>
              <a:t>94.2%   →   95.0%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25196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2C5530"/>
                </a:solidFill>
                <a:latin typeface="Calibri"/>
              </a:rPr>
              <a:t>Đủ capacity, hard constraint thành regularizer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solidFill>
            <a:srgbClr val="F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DIỄN GIẢI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Masked CE thêm hard constraint vào loss landscape. Backbone nhỏ không đủ capacity để vừa fit feature vừa thoả ràng buộc → bị penalty. Backbone lớn có dư capacity, hard constraint trở thành regularizer hữu ích.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D4A017"/>
                </a:solidFill>
                <a:latin typeface="Calibri"/>
              </a:rPr>
              <a:t>6.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C5530"/>
                </a:solidFill>
                <a:latin typeface="Calibri"/>
              </a:rPr>
              <a:t>Tính nhất quán với cây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4572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2C5530"/>
                </a:solidFill>
                <a:latin typeface="Calibri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F1F1F"/>
                </a:solidFill>
                <a:latin typeface="Calibri"/>
              </a:rPr>
              <a:t>prediction là path hợp lệ trong cây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Với masked decoding, model không bao giờ output "loài X nhưng chi không phải cha của X".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737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1F1F"/>
                </a:solidFill>
                <a:latin typeface="Calibri"/>
              </a:rPr>
              <a:t>Ghi chú khi train masked 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B03A2E"/>
                </a:solidFill>
                <a:latin typeface="Calibri"/>
              </a:rPr>
              <a:t>Lưu ý kỹ thuật:</a:t>
            </a:r>
          </a:p>
          <a:p>
            <a:r>
              <a:rPr sz="1200">
                <a:solidFill>
                  <a:srgbClr val="B03A2E"/>
                </a:solidFill>
                <a:latin typeface="Calibri"/>
              </a:rPr>
              <a:t>•  Lần train đầu masked CE bị early stop sai vì evaluate() dùng indep argmax (không match training) → val HierAcc ~9%.</a:t>
            </a:r>
          </a:p>
          <a:p>
            <a:r>
              <a:rPr sz="1200">
                <a:solidFill>
                  <a:srgbClr val="B03A2E"/>
                </a:solidFill>
                <a:latin typeface="Calibri"/>
              </a:rPr>
              <a:t>•  Đã fix evaluate() dùng masked decoding. Số liệu val (best checkpoint):</a:t>
            </a:r>
          </a:p>
          <a:p>
            <a:r>
              <a:rPr sz="1200">
                <a:solidFill>
                  <a:srgbClr val="B03A2E"/>
                </a:solidFill>
                <a:latin typeface="Calibri"/>
              </a:rPr>
              <a:t>     yolov8s masked: 42 epoch, val HierAcc 94.9%   |   yolo11x masked: 98 epoch, val HierAcc 95.4%</a:t>
            </a:r>
          </a:p>
          <a:p>
            <a:r>
              <a:rPr sz="1200">
                <a:solidFill>
                  <a:srgbClr val="B03A2E"/>
                </a:solidFill>
                <a:latin typeface="Calibri"/>
              </a:rPr>
              <a:t>•  Test HierAcc (báo cáo ở slide 6): yolov8s 92.5% · yolo11x 95.0%. Val cao hơn test do val gần distribution train hơn.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Baseline (Indep CE) thực nghiệm cũng đạt consistency tự nhiên ~94%, nhưng không có đảm bảo lý thuyết.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Báo cáo tiến độ — Phân loại phấn hoa hierarchical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>
                <a:solidFill>
                  <a:srgbClr val="6B6B6B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Tổng kết &amp; việc tiếp theo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4A017"/>
                </a:solidFill>
                <a:latin typeface="Calibri"/>
              </a:rPr>
              <a:t>ĐÃ HOÀN THÀNH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Multi-head YOLO classifier (~200 LOC).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Masked CE training + masked decoding.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Ablation 4 cấu hình × 2 backbone (8 lần test).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Best: yolo11x + Masked CE = 95.0% HierAcc.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✓  Phát hiện capacity-dependence của Masked 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D4A017"/>
                </a:solidFill>
                <a:latin typeface="Calibri"/>
              </a:rPr>
              <a:t>CẦN LÀM TIẾP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Multi-seed validation (3-5 seed).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So sánh baseline ngoài (flat, cascade, hier softmax).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Curriculum learning để cứu yolov8s.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Bổ sung metadata dataset.</a:t>
            </a:r>
          </a:p>
          <a:p>
            <a:pPr>
              <a:lnSpc>
                <a:spcPct val="16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→  Làm rõ ý nghĩa sinh học suffix _1 / _2.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5669280"/>
            <a:ext cx="121889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2C5530"/>
                </a:solidFill>
                <a:latin typeface="Calibri"/>
              </a:rPr>
              <a:t>Xin cảm ơn — Mời thầy/cô góp 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 spc="600">
                <a:solidFill>
                  <a:srgbClr val="2C5530"/>
                </a:solidFill>
                <a:latin typeface="Calibri"/>
              </a:rPr>
              <a:t>Q  &amp; 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